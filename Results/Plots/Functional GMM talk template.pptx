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3708400" y="3061971"/>
            <a:ext cx="7670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4800" dirty="0">
                <a:solidFill>
                  <a:srgbClr val="F6F5F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4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3708400" y="4037331"/>
            <a:ext cx="7670800" cy="2007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3708400" y="3061971"/>
            <a:ext cx="7670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4800" dirty="0">
                <a:solidFill>
                  <a:srgbClr val="F6F5F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4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3708400" y="4037331"/>
            <a:ext cx="7670800" cy="2007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9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VENUE · DATE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870287"/>
            <a:ext cx="10883392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5F1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Title of the talk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2744047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C3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Subtitle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20" r="-20" t="0" b="0"/>
          <a:stretch/>
        </p:blipFill>
        <p:spPr>
          <a:xfrm>
            <a:off x="812800" y="3918373"/>
            <a:ext cx="10566400" cy="101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7785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3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Surname · Politecnico di Milano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Outline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689735"/>
            <a:ext cx="1985010" cy="4149090"/>
          </a:xfrm>
          <a:prstGeom prst="roundRect">
            <a:avLst>
              <a:gd name="adj" fmla="val 3679"/>
            </a:avLst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pic>
        <p:nvPicPr>
          <p:cNvPr id="4" name="Image 0" descr="Epicentre and station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0233" y="1944793"/>
            <a:ext cx="609600" cy="60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233" y="5056082"/>
            <a:ext cx="16272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5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20233" y="5345642"/>
            <a:ext cx="1627293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959735" y="1689735"/>
            <a:ext cx="1985010" cy="4149090"/>
          </a:xfrm>
          <a:prstGeom prst="roundRect">
            <a:avLst>
              <a:gd name="adj" fmla="val 3679"/>
            </a:avLst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pic>
        <p:nvPicPr>
          <p:cNvPr id="8" name="Image 1" descr="Functional curve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63993" y="1944793"/>
            <a:ext cx="609600" cy="609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63993" y="5056082"/>
            <a:ext cx="16272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5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163993" y="5345642"/>
            <a:ext cx="1627293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103495" y="1689735"/>
            <a:ext cx="1985010" cy="4149090"/>
          </a:xfrm>
          <a:prstGeom prst="roundRect">
            <a:avLst>
              <a:gd name="adj" fmla="val 3679"/>
            </a:avLst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pic>
        <p:nvPicPr>
          <p:cNvPr id="12" name="Image 2" descr="Coefficient curve with confidence band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07754" y="1944793"/>
            <a:ext cx="609600" cy="609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07754" y="5056082"/>
            <a:ext cx="16272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5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307754" y="5345642"/>
            <a:ext cx="1627293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Estimation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247255" y="1689735"/>
            <a:ext cx="1985010" cy="4149090"/>
          </a:xfrm>
          <a:prstGeom prst="roundRect">
            <a:avLst>
              <a:gd name="adj" fmla="val 3679"/>
            </a:avLst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pic>
        <p:nvPicPr>
          <p:cNvPr id="16" name="Image 3" descr="Observed versus predicted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51513" y="1944793"/>
            <a:ext cx="609600" cy="609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51513" y="5056082"/>
            <a:ext cx="16272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5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451513" y="5345642"/>
            <a:ext cx="1627293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9391015" y="1689735"/>
            <a:ext cx="1985010" cy="4149090"/>
          </a:xfrm>
          <a:prstGeom prst="roundRect">
            <a:avLst>
              <a:gd name="adj" fmla="val 3679"/>
            </a:avLst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pic>
        <p:nvPicPr>
          <p:cNvPr id="20" name="Image 4" descr="Wave propagation over a spatial grid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595273" y="1944793"/>
            <a:ext cx="609600" cy="609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595273" y="4817957"/>
            <a:ext cx="16272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5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9595273" y="5107517"/>
            <a:ext cx="1627293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Further discussion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812800" y="6238239"/>
            <a:ext cx="16785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 title of the talk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1145520" y="6238239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-20" r="-20" t="0" b="0"/>
          <a:stretch/>
        </p:blipFill>
        <p:spPr>
          <a:xfrm>
            <a:off x="812800" y="5029200"/>
            <a:ext cx="10566400" cy="10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9150" y="2292350"/>
            <a:ext cx="2273300" cy="2273300"/>
          </a:xfrm>
          <a:prstGeom prst="roundRect">
            <a:avLst>
              <a:gd name="adj" fmla="val 50000"/>
            </a:avLst>
          </a:prstGeom>
          <a:solidFill>
            <a:srgbClr val="1B2B4B"/>
          </a:solidFill>
          <a:ln w="12700">
            <a:solidFill>
              <a:srgbClr val="34466A"/>
            </a:solidFill>
            <a:prstDash val="solid"/>
          </a:ln>
        </p:spPr>
      </p:sp>
      <p:pic>
        <p:nvPicPr>
          <p:cNvPr id="4" name="Image 1" descr="Epicentre and station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0800" y="2794000"/>
            <a:ext cx="1270000" cy="1270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8400" y="2642870"/>
            <a:ext cx="79009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200" kern="0" dirty="0">
                <a:solidFill>
                  <a:srgbClr val="E89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2"/>
          <p:cNvSpPr/>
          <p:nvPr>
            <p:ph type="title"/>
          </p:nvPr>
        </p:nvSpPr>
        <p:spPr>
          <a:xfrm>
            <a:off x="3708400" y="3061970"/>
            <a:ext cx="7900924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5F1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Data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3708400" y="3884930"/>
            <a:ext cx="790092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C3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 subtitle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picentre and station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8128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9200" y="858520"/>
            <a:ext cx="10241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5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· DATA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2192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Slide title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15975" y="1994536"/>
            <a:ext cx="6286077" cy="3844290"/>
          </a:xfrm>
          <a:prstGeom prst="roundRect">
            <a:avLst>
              <a:gd name="adj" fmla="val 1900"/>
            </a:avLst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  <p:txBody>
          <a:bodyPr wrap="square" lIns="182870" tIns="182870" rIns="182870" bIns="18287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FIGURE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460827" y="1991361"/>
            <a:ext cx="403592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Heading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60827" y="2331086"/>
            <a:ext cx="40359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2800" y="6238239"/>
            <a:ext cx="16785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 title of the talk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145520" y="6238239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-20" r="-20" t="0" b="0"/>
          <a:stretch/>
        </p:blipFill>
        <p:spPr>
          <a:xfrm>
            <a:off x="812800" y="5029200"/>
            <a:ext cx="10566400" cy="10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9150" y="2292350"/>
            <a:ext cx="2273300" cy="2273300"/>
          </a:xfrm>
          <a:prstGeom prst="roundRect">
            <a:avLst>
              <a:gd name="adj" fmla="val 50000"/>
            </a:avLst>
          </a:prstGeom>
          <a:solidFill>
            <a:srgbClr val="1B2B4B"/>
          </a:solidFill>
          <a:ln w="12700">
            <a:solidFill>
              <a:srgbClr val="34466A"/>
            </a:solidFill>
            <a:prstDash val="solid"/>
          </a:ln>
        </p:spPr>
      </p:sp>
      <p:pic>
        <p:nvPicPr>
          <p:cNvPr id="4" name="Image 1" descr="Functional curve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0800" y="2794000"/>
            <a:ext cx="1270000" cy="1270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8400" y="2642871"/>
            <a:ext cx="79009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200" kern="0" dirty="0">
                <a:solidFill>
                  <a:srgbClr val="E89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500" dirty="0"/>
          </a:p>
        </p:txBody>
      </p:sp>
      <p:sp>
        <p:nvSpPr>
          <p:cNvPr id="6" name="Text 2"/>
          <p:cNvSpPr/>
          <p:nvPr>
            <p:ph type="title"/>
          </p:nvPr>
        </p:nvSpPr>
        <p:spPr>
          <a:xfrm>
            <a:off x="3708400" y="3061971"/>
            <a:ext cx="7900924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5F1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Model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3708400" y="3884929"/>
            <a:ext cx="790092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C3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 subtitle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unctional curve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8128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9200" y="858521"/>
            <a:ext cx="12087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5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MODEL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2192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Slide title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12800" y="1991361"/>
            <a:ext cx="10566400" cy="965200"/>
          </a:xfrm>
          <a:prstGeom prst="roundRect">
            <a:avLst>
              <a:gd name="adj" fmla="val 7895"/>
            </a:avLst>
          </a:prstGeom>
          <a:solidFill>
            <a:srgbClr val="F2F4F7"/>
          </a:solidFill>
          <a:ln/>
        </p:spPr>
        <p:txBody>
          <a:bodyPr wrap="square" lIns="282482" tIns="269782" rIns="282482" bIns="269782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15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Equation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15975" y="3264536"/>
            <a:ext cx="5175250" cy="257429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1033" y="3519593"/>
            <a:ext cx="480508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Heading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71033" y="3833918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00775" y="3264536"/>
            <a:ext cx="5175250" cy="257429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55833" y="3519593"/>
            <a:ext cx="480508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Heading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55833" y="3833918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2800" y="6238239"/>
            <a:ext cx="16785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 title of the talk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145520" y="6238239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-20" r="-20" t="0" b="0"/>
          <a:stretch/>
        </p:blipFill>
        <p:spPr>
          <a:xfrm>
            <a:off x="812800" y="5029200"/>
            <a:ext cx="10566400" cy="10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9150" y="2292350"/>
            <a:ext cx="2273300" cy="2273300"/>
          </a:xfrm>
          <a:prstGeom prst="roundRect">
            <a:avLst>
              <a:gd name="adj" fmla="val 50000"/>
            </a:avLst>
          </a:prstGeom>
          <a:solidFill>
            <a:srgbClr val="1B2B4B"/>
          </a:solidFill>
          <a:ln w="12700">
            <a:solidFill>
              <a:srgbClr val="34466A"/>
            </a:solidFill>
            <a:prstDash val="solid"/>
          </a:ln>
        </p:spPr>
      </p:sp>
      <p:pic>
        <p:nvPicPr>
          <p:cNvPr id="4" name="Image 1" descr="Coefficient curve with confidence ban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0800" y="2794000"/>
            <a:ext cx="1270000" cy="1270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8400" y="2642871"/>
            <a:ext cx="79009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200" kern="0" dirty="0">
                <a:solidFill>
                  <a:srgbClr val="E89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500" dirty="0"/>
          </a:p>
        </p:txBody>
      </p:sp>
      <p:sp>
        <p:nvSpPr>
          <p:cNvPr id="6" name="Text 2"/>
          <p:cNvSpPr/>
          <p:nvPr>
            <p:ph type="title"/>
          </p:nvPr>
        </p:nvSpPr>
        <p:spPr>
          <a:xfrm>
            <a:off x="3708400" y="3061971"/>
            <a:ext cx="7900924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5F1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Estimation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3708400" y="3884929"/>
            <a:ext cx="790092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C3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 subtitle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efficient curve with confidence b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8128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9200" y="858521"/>
            <a:ext cx="18173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5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ESTIMATION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2192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Slide title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15975" y="1994536"/>
            <a:ext cx="3380317" cy="3529330"/>
          </a:xfrm>
          <a:prstGeom prst="roundRect">
            <a:avLst>
              <a:gd name="adj" fmla="val 2160"/>
            </a:avLst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  <p:txBody>
          <a:bodyPr wrap="square" lIns="182870" tIns="182870" rIns="182870" bIns="18287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FIGURE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5628642"/>
            <a:ext cx="348826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405842" y="1994536"/>
            <a:ext cx="3380317" cy="3529330"/>
          </a:xfrm>
          <a:prstGeom prst="roundRect">
            <a:avLst>
              <a:gd name="adj" fmla="val 2160"/>
            </a:avLst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  <p:txBody>
          <a:bodyPr wrap="square" lIns="182870" tIns="182870" rIns="182870" bIns="18287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402667" y="5628642"/>
            <a:ext cx="348826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95708" y="1994536"/>
            <a:ext cx="3380317" cy="3529330"/>
          </a:xfrm>
          <a:prstGeom prst="roundRect">
            <a:avLst>
              <a:gd name="adj" fmla="val 2160"/>
            </a:avLst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  <p:txBody>
          <a:bodyPr wrap="square" lIns="182870" tIns="182870" rIns="182870" bIns="18287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92533" y="5628642"/>
            <a:ext cx="348826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2800" y="6238242"/>
            <a:ext cx="16785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 title of the talk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1455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-20" r="-20" t="0" b="0"/>
          <a:stretch/>
        </p:blipFill>
        <p:spPr>
          <a:xfrm>
            <a:off x="812800" y="5029200"/>
            <a:ext cx="10566400" cy="10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9150" y="2292350"/>
            <a:ext cx="2273300" cy="2273300"/>
          </a:xfrm>
          <a:prstGeom prst="roundRect">
            <a:avLst>
              <a:gd name="adj" fmla="val 50000"/>
            </a:avLst>
          </a:prstGeom>
          <a:solidFill>
            <a:srgbClr val="1B2B4B"/>
          </a:solidFill>
          <a:ln w="12700">
            <a:solidFill>
              <a:srgbClr val="34466A"/>
            </a:solidFill>
            <a:prstDash val="solid"/>
          </a:ln>
        </p:spPr>
      </p:sp>
      <p:pic>
        <p:nvPicPr>
          <p:cNvPr id="4" name="Image 1" descr="Observed versus predicte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0800" y="2794000"/>
            <a:ext cx="1270000" cy="1270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8400" y="2642871"/>
            <a:ext cx="79009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200" kern="0" dirty="0">
                <a:solidFill>
                  <a:srgbClr val="E89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500" dirty="0"/>
          </a:p>
        </p:txBody>
      </p:sp>
      <p:sp>
        <p:nvSpPr>
          <p:cNvPr id="6" name="Text 2"/>
          <p:cNvSpPr/>
          <p:nvPr>
            <p:ph type="title"/>
          </p:nvPr>
        </p:nvSpPr>
        <p:spPr>
          <a:xfrm>
            <a:off x="3708400" y="3061971"/>
            <a:ext cx="7900924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5F1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Results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3708400" y="3884929"/>
            <a:ext cx="790092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C3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 subtitle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bserved versus predicte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8128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9200" y="858521"/>
            <a:ext cx="14104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5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RESULTS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2192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Slide title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15975" y="1994533"/>
            <a:ext cx="6973041" cy="3844290"/>
          </a:xfrm>
          <a:prstGeom prst="roundRect">
            <a:avLst>
              <a:gd name="adj" fmla="val 1900"/>
            </a:avLst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  <p:txBody>
          <a:bodyPr wrap="square" lIns="182870" tIns="182870" rIns="182870" bIns="18287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FIGURE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100166" y="1994533"/>
            <a:ext cx="3275859" cy="1333077"/>
          </a:xfrm>
          <a:prstGeom prst="roundRect">
            <a:avLst>
              <a:gd name="adj" fmla="val 5478"/>
            </a:avLst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04424" y="2198793"/>
            <a:ext cx="2953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5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04424" y="2437550"/>
            <a:ext cx="2953363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0.00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304424" y="2909993"/>
            <a:ext cx="2953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00166" y="3486361"/>
            <a:ext cx="3275859" cy="1333077"/>
          </a:xfrm>
          <a:prstGeom prst="roundRect">
            <a:avLst>
              <a:gd name="adj" fmla="val 5478"/>
            </a:avLst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04424" y="3690621"/>
            <a:ext cx="2953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5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Label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04424" y="3929379"/>
            <a:ext cx="2953363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0.00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304424" y="4401821"/>
            <a:ext cx="2953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42"/>
            <a:ext cx="16785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 title of the talk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455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-20" r="-20" t="0" b="0"/>
          <a:stretch/>
        </p:blipFill>
        <p:spPr>
          <a:xfrm>
            <a:off x="812800" y="5029200"/>
            <a:ext cx="10566400" cy="10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9150" y="2292350"/>
            <a:ext cx="2273300" cy="2273300"/>
          </a:xfrm>
          <a:prstGeom prst="roundRect">
            <a:avLst>
              <a:gd name="adj" fmla="val 50000"/>
            </a:avLst>
          </a:prstGeom>
          <a:solidFill>
            <a:srgbClr val="1B2B4B"/>
          </a:solidFill>
          <a:ln w="12700">
            <a:solidFill>
              <a:srgbClr val="34466A"/>
            </a:solidFill>
            <a:prstDash val="solid"/>
          </a:ln>
        </p:spPr>
      </p:sp>
      <p:pic>
        <p:nvPicPr>
          <p:cNvPr id="4" name="Image 1" descr="Wave propagation over a spatial gri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0800" y="2794000"/>
            <a:ext cx="1270000" cy="1270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8400" y="2642871"/>
            <a:ext cx="79009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200" kern="0" dirty="0">
                <a:solidFill>
                  <a:srgbClr val="E89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500" dirty="0"/>
          </a:p>
        </p:txBody>
      </p:sp>
      <p:sp>
        <p:nvSpPr>
          <p:cNvPr id="6" name="Text 2"/>
          <p:cNvSpPr/>
          <p:nvPr>
            <p:ph type="title"/>
          </p:nvPr>
        </p:nvSpPr>
        <p:spPr>
          <a:xfrm>
            <a:off x="3708400" y="3061971"/>
            <a:ext cx="7900924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5F1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Further discussion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3708400" y="3884929"/>
            <a:ext cx="790092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C3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 subtitle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 propagation over a spatial gri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8128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9200" y="858521"/>
            <a:ext cx="28743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5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FURTHER DISCUSSION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2192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Slide title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12800" y="1991358"/>
            <a:ext cx="528472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Heading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2331083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5975" y="2702558"/>
            <a:ext cx="5124450" cy="3136265"/>
          </a:xfrm>
          <a:prstGeom prst="roundRect">
            <a:avLst>
              <a:gd name="adj" fmla="val 2328"/>
            </a:avLst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  <p:txBody>
          <a:bodyPr wrap="square" lIns="182870" tIns="182870" rIns="182870" bIns="18287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48400" y="1991358"/>
            <a:ext cx="528472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Heading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48400" y="2331083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51575" y="2702558"/>
            <a:ext cx="5124450" cy="3136265"/>
          </a:xfrm>
          <a:prstGeom prst="roundRect">
            <a:avLst>
              <a:gd name="adj" fmla="val 2328"/>
            </a:avLst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  <p:txBody>
          <a:bodyPr wrap="square" lIns="182870" tIns="182870" rIns="182870" bIns="18287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FIGURE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2800" y="6238242"/>
            <a:ext cx="16785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 title of the talk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1455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9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 AND DISCUSSION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57450"/>
            <a:ext cx="10883392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5F1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331208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3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Surname · name.surname@polimi.it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20" r="-20" t="0" b="0"/>
          <a:stretch/>
        </p:blipFill>
        <p:spPr>
          <a:xfrm>
            <a:off x="812800" y="5029200"/>
            <a:ext cx="10566400" cy="10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unctional GMM talk template">
  <a:themeElements>
    <a:clrScheme name="Functional GMM talk template">
      <a:dk1>
        <a:srgbClr val="15233F"/>
      </a:dk1>
      <a:lt1>
        <a:srgbClr val="F6F5F1"/>
      </a:lt1>
      <a:dk2>
        <a:srgbClr val="2C3851"/>
      </a:dk2>
      <a:lt2>
        <a:srgbClr val="BEC1C5"/>
      </a:lt2>
      <a:accent1>
        <a:srgbClr val="A9531A"/>
      </a:accent1>
      <a:accent2>
        <a:srgbClr val="E89A5C"/>
      </a:accent2>
      <a:accent3>
        <a:srgbClr val="5F6670"/>
      </a:accent3>
      <a:accent4>
        <a:srgbClr val="C3CCDA"/>
      </a:accent4>
      <a:accent5>
        <a:srgbClr val="4A5568"/>
      </a:accent5>
      <a:accent6>
        <a:srgbClr val="9AA0A6"/>
      </a:accent6>
      <a:hlink>
        <a:srgbClr val="0563C1"/>
      </a:hlink>
      <a:folHlink>
        <a:srgbClr val="954F72"/>
      </a:folHlink>
    </a:clrScheme>
    <a:fontScheme name="Functional GMM talk template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GMM talk template</dc:title>
  <dc:subject/>
  <dc:creator/>
  <cp:lastModifiedBy/>
  <cp:revision>1</cp:revision>
  <dcterms:created xsi:type="dcterms:W3CDTF">2026-10-19T16:28:31Z</dcterms:created>
  <dcterms:modified xsi:type="dcterms:W3CDTF">2026-10-19T16:28:31Z</dcterms:modified>
</cp:coreProperties>
</file>